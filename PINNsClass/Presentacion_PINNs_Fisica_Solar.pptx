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331720"/>
            <a:ext cx="1463040" cy="50800"/>
          </a:xfrm>
          <a:prstGeom prst="roundRect">
            <a:avLst>
              <a:gd name="adj" fmla="val 2000"/>
            </a:avLst>
          </a:prstGeom>
          <a:solidFill>
            <a:srgbClr val="F5B642"/>
          </a:solidFill>
          <a:ln w="12700">
            <a:solidFill>
              <a:srgbClr val="F5B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5000" b="0" i="0">
                <a:solidFill>
                  <a:srgbClr val="E6EDF7"/>
                </a:solidFill>
                <a:latin typeface="Montserrat"/>
              </a:rPr>
              <a:t>Physics-Informed
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09160"/>
            <a:ext cx="96012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9FB3CC"/>
                </a:solidFill>
                <a:latin typeface="Open Sans"/>
              </a:rPr>
              <a:t>Cuándo meter la física dentro de la función de pérdida cambia el resultado — y cuándo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B8F5"/>
                </a:solidFill>
                <a:latin typeface="Montserrat"/>
              </a:rPr>
              <a:t>CLASE PRÁCTICA DE PROGRAMACIÓN · ASTROFÍSICA COMPUTACIONAL 2026-I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La pregunta que vamos a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9FB3CC"/>
                </a:solidFill>
                <a:latin typeface="Open Sans"/>
              </a:rPr>
              <a:t>Toda presentación de PINNs enseña la fórmula. Casi ninguna dice cuándo conviene usarla. Hoy respondemos eso con un experimento controlado, no con opiniones.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5394960" cy="269748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F6B6B"/>
                </a:solidFill>
                <a:latin typeface="Montserrat"/>
              </a:rPr>
              <a:t>PROBLEMA DIRECTO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4846320" cy="21945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Conozco la ecuación y sus parámetros, quiero </a:t>
            </a:r>
            <a:r>
              <a:rPr sz="1500" b="0" i="1">
                <a:solidFill>
                  <a:srgbClr val="E6EDF7"/>
                </a:solidFill>
                <a:latin typeface="Open Sans"/>
              </a:rPr>
              <a:t>u(t)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6EDF7"/>
                </a:solidFill>
                <a:latin typeface="Open Sans"/>
              </a:rPr>
              <a:t>Una PINN es una mala idea.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RK4 resuelve esto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1,641× más rápido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 y con un error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63,669× menor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. No uses una red neuronal para integrar una EDO que ya sabes integrar.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377440"/>
            <a:ext cx="5212080" cy="269748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260604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PROBLEMA INVERSO Y ASIMILACIÓN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4663440" cy="21945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Tengo observaciones escasas, ruidosas y con huecos, y quiero el estado continuo y los parámetros físicos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6EDF7"/>
                </a:solidFill>
                <a:latin typeface="Open Sans"/>
              </a:rPr>
              <a:t>Aquí la física en la pérdida lo cambia todo.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Convierte un ajuste sin sentido en una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medición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. Es el caso real en física solar: cadencia limitada, ruido, variables del plasma que nadie mide directamente.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El límite del "black box"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Una red que solo ve datos no aprende física: aprende correlaciones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577840" cy="4023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5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50" b="1" i="0">
                <a:solidFill>
                  <a:srgbClr val="F5B642"/>
                </a:solidFill>
                <a:latin typeface="Open Sans"/>
              </a:rPr>
              <a:t>Extrapola mal.  </a:t>
            </a:r>
            <a:r>
              <a:rPr sz="1550" b="0" i="0">
                <a:solidFill>
                  <a:srgbClr val="E6EDF7"/>
                </a:solidFill>
                <a:latin typeface="Open Sans"/>
              </a:rPr>
              <a:t>Fuera de la distribución de entrenamiento no hay ninguna garantía; la red hace lo único que sabe, interpolar suavemente.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5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50" b="1" i="0">
                <a:solidFill>
                  <a:srgbClr val="F5B642"/>
                </a:solidFill>
                <a:latin typeface="Open Sans"/>
              </a:rPr>
              <a:t>Sobreajusta el ruido.  </a:t>
            </a:r>
            <a:r>
              <a:rPr sz="1550" b="0" i="0">
                <a:solidFill>
                  <a:srgbClr val="E6EDF7"/>
                </a:solidFill>
                <a:latin typeface="Open Sans"/>
              </a:rPr>
              <a:t>Si tiene capacidad suficiente pasa exactamente por cada punto, incluida la parte que es error de medición.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5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50" b="1" i="0">
                <a:solidFill>
                  <a:srgbClr val="F5B642"/>
                </a:solidFill>
                <a:latin typeface="Open Sans"/>
              </a:rPr>
              <a:t>Viola leyes de conservación.  </a:t>
            </a:r>
            <a:r>
              <a:rPr sz="1550" b="0" i="0">
                <a:solidFill>
                  <a:srgbClr val="E6EDF7"/>
                </a:solidFill>
                <a:latin typeface="Open Sans"/>
              </a:rPr>
              <a:t>Nada en la pérdida le impide crear masa, momento o energía. Y lo hace.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828800"/>
            <a:ext cx="5029200" cy="32004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66560" y="2057400"/>
            <a:ext cx="448056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F6B6B"/>
                </a:solidFill>
                <a:latin typeface="Montserrat"/>
              </a:rPr>
              <a:t>LO QUE MEDIMOS HOY EN CLASE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560320"/>
            <a:ext cx="4480560" cy="2286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E6EDF7"/>
                </a:solidFill>
                <a:latin typeface="Open Sans"/>
              </a:rPr>
              <a:t>Con 14 puntos ruidosos, la red sin física llevó su error de datos a </a:t>
            </a:r>
            <a:r>
              <a:rPr sz="1450" b="1" i="0">
                <a:solidFill>
                  <a:srgbClr val="F5B642"/>
                </a:solidFill>
                <a:latin typeface="Open Sans"/>
              </a:rPr>
              <a:t>3e-13</a:t>
            </a:r>
            <a:r>
              <a:rPr sz="1450" b="0" i="0">
                <a:solidFill>
                  <a:srgbClr val="E6EDF7"/>
                </a:solidFill>
                <a:latin typeface="Open Sans"/>
              </a:rPr>
              <a:t>: memorizó el ruido exactamente.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0">
                <a:solidFill>
                  <a:srgbClr val="E6EDF7"/>
                </a:solidFill>
                <a:latin typeface="Open Sans"/>
              </a:rPr>
              <a:t>Consecuencia física: fabricó un </a:t>
            </a:r>
            <a:r>
              <a:rPr sz="1450" b="1" i="0">
                <a:solidFill>
                  <a:srgbClr val="FF6B6B"/>
                </a:solidFill>
                <a:latin typeface="Open Sans"/>
              </a:rPr>
              <a:t>43 %</a:t>
            </a:r>
            <a:r>
              <a:rPr sz="1450" b="0" i="0">
                <a:solidFill>
                  <a:srgbClr val="E6EDF7"/>
                </a:solidFill>
                <a:latin typeface="Open Sans"/>
              </a:rPr>
              <a:t> de la energía inicial del sistema de la nada.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1">
                <a:solidFill>
                  <a:srgbClr val="9FB3CC"/>
                </a:solidFill>
                <a:latin typeface="Open Sans"/>
              </a:rPr>
              <a:t>No es un problema estético. Es un lazo coronal que se amplifica solo, sin fuente.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El paradigma de las PINNs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La red sigue siendo una red; lo que cambia es qué se optimiza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5394960" cy="251460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F5B642"/>
                </a:solidFill>
                <a:latin typeface="Montserrat"/>
              </a:rPr>
              <a:t>Conocimiento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8036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Aprende de mediciones empíricas y condiciones de contorno o iniciales. Tolera datos ruidosos, escasos o incompletos, que es la situación normal en observaciones solares.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394960" cy="251460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29400" y="228600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 i="0">
                <a:solidFill>
                  <a:srgbClr val="F5B642"/>
                </a:solidFill>
                <a:latin typeface="Montserrat"/>
              </a:rPr>
              <a:t>Restricciones físicas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880360"/>
            <a:ext cx="4754880" cy="21945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La ecuación diferencial se evalúa sobre la propia red mediante diferenciación automática y su incumplimiento se penaliza. Eso restringe el espacio de soluciones y reduce cuántos datos hacen falta.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B3CC"/>
                </a:solidFill>
                <a:latin typeface="Open Sans"/>
              </a:rPr>
              <a:t>La clave: los puntos de colocación no necesitan datos. La física es el dato que falta.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La función de pérdida híbrida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737360"/>
            <a:ext cx="9235440" cy="13716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965960"/>
            <a:ext cx="923544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E6EDF7"/>
                </a:solidFill>
                <a:latin typeface="Montserrat"/>
              </a:rPr>
              <a:t>L</a:t>
            </a:r>
            <a:r>
              <a:rPr sz="1700" b="0" i="0">
                <a:solidFill>
                  <a:srgbClr val="E6EDF7"/>
                </a:solidFill>
                <a:latin typeface="Open Sans"/>
              </a:rPr>
              <a:t>total</a:t>
            </a:r>
            <a:r>
              <a:rPr sz="3000" b="0" i="0">
                <a:solidFill>
                  <a:srgbClr val="E6EDF7"/>
                </a:solidFill>
                <a:latin typeface="Open Sans"/>
              </a:rPr>
              <a:t>  =  </a:t>
            </a:r>
            <a:r>
              <a:rPr sz="3000" b="0" i="0">
                <a:solidFill>
                  <a:srgbClr val="E6EDF7"/>
                </a:solidFill>
                <a:latin typeface="Montserrat"/>
              </a:rPr>
              <a:t>L</a:t>
            </a:r>
            <a:r>
              <a:rPr sz="1700" b="0" i="0">
                <a:solidFill>
                  <a:srgbClr val="E6EDF7"/>
                </a:solidFill>
                <a:latin typeface="Open Sans"/>
              </a:rPr>
              <a:t>datos</a:t>
            </a:r>
            <a:r>
              <a:rPr sz="3000" b="0" i="0">
                <a:solidFill>
                  <a:srgbClr val="F5B642"/>
                </a:solidFill>
                <a:latin typeface="Open Sans"/>
              </a:rPr>
              <a:t>  +  λ</a:t>
            </a:r>
            <a:r>
              <a:rPr sz="1700" b="0" i="0">
                <a:solidFill>
                  <a:srgbClr val="F5B642"/>
                </a:solidFill>
                <a:latin typeface="Open Sans"/>
              </a:rPr>
              <a:t>fís</a:t>
            </a:r>
            <a:r>
              <a:rPr sz="3000" b="0" i="0">
                <a:solidFill>
                  <a:srgbClr val="F5B642"/>
                </a:solidFill>
                <a:latin typeface="Montserrat"/>
              </a:rPr>
              <a:t> L</a:t>
            </a:r>
            <a:r>
              <a:rPr sz="1700" b="0" i="0">
                <a:solidFill>
                  <a:srgbClr val="F5B642"/>
                </a:solidFill>
                <a:latin typeface="Open Sans"/>
              </a:rPr>
              <a:t>física</a:t>
            </a:r>
            <a:r>
              <a:rPr sz="3000" b="0" i="0">
                <a:solidFill>
                  <a:srgbClr val="E6EDF7"/>
                </a:solidFill>
                <a:latin typeface="Open Sans"/>
              </a:rPr>
              <a:t>  +  λ</a:t>
            </a:r>
            <a:r>
              <a:rPr sz="1700" b="0" i="0">
                <a:solidFill>
                  <a:srgbClr val="E6EDF7"/>
                </a:solidFill>
                <a:latin typeface="Open Sans"/>
              </a:rPr>
              <a:t>ci</a:t>
            </a:r>
            <a:r>
              <a:rPr sz="3000" b="0" i="0">
                <a:solidFill>
                  <a:srgbClr val="E6EDF7"/>
                </a:solidFill>
                <a:latin typeface="Montserrat"/>
              </a:rPr>
              <a:t> L</a:t>
            </a:r>
            <a:r>
              <a:rPr sz="1700" b="0" i="0">
                <a:solidFill>
                  <a:srgbClr val="E6EDF7"/>
                </a:solidFill>
                <a:latin typeface="Open Sans"/>
              </a:rPr>
              <a:t>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383280"/>
            <a:ext cx="3474720" cy="173736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35661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3FB8F5"/>
                </a:solidFill>
                <a:latin typeface="Montserrat"/>
              </a:rPr>
              <a:t>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977639"/>
            <a:ext cx="3017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6EDF7"/>
                </a:solidFill>
                <a:latin typeface="Open Sans"/>
              </a:rPr>
              <a:t>MSE entre la red y las observaciones. Solo se evalúa donde hay mediciones.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383280"/>
            <a:ext cx="3474720" cy="173736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35661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B642"/>
                </a:solidFill>
                <a:latin typeface="Montserrat"/>
              </a:rPr>
              <a:t>Física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977639"/>
            <a:ext cx="3017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6EDF7"/>
                </a:solidFill>
                <a:latin typeface="Open Sans"/>
              </a:rPr>
              <a:t>MSE del residuo de la EDO en puntos de colocación repartidos por todo el dominio, también donde no hay 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3383280"/>
            <a:ext cx="3474720" cy="173736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94191" y="35661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3FB8F5"/>
                </a:solidFill>
                <a:latin typeface="Montserrat"/>
              </a:rPr>
              <a:t>Iniciales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1" y="3977639"/>
            <a:ext cx="301752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E6EDF7"/>
                </a:solidFill>
                <a:latin typeface="Open Sans"/>
              </a:rPr>
              <a:t>Ancla la solución: sin esto, la familia de soluciones de la EDO tiene infinitos miembros.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10911535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F5B642"/>
                </a:solidFill>
                <a:latin typeface="Open Sans"/>
              </a:rPr>
              <a:t>Detalle que decide si funciona: </a:t>
            </a:r>
            <a:r>
              <a:rPr sz="1450" b="0" i="0">
                <a:solidFill>
                  <a:srgbClr val="9FB3CC"/>
                </a:solidFill>
                <a:latin typeface="Open Sans"/>
              </a:rPr>
              <a:t>adimensionalizar el residuo dividiéndolo por ω₀². Sin eso los tres términos tienen unidades distintas, λ depende de la escala temporal elegida y aparece la patología de gradientes.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Qué NO es una PINN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Tres malentendidos que hay que desactivar antes de programar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929384"/>
            <a:ext cx="365760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F6B6B"/>
                </a:solidFill>
                <a:latin typeface="Montserrat"/>
              </a:rPr>
              <a:t>No es un integrador mejorado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929384"/>
            <a:ext cx="649224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Resolver una EDO/EDP conocida con una PINN es más lento y menos preciso que un método clásico. Casi siempre. Sin excepciones cómodas.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3346704"/>
            <a:ext cx="365760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F6B6B"/>
                </a:solidFill>
                <a:latin typeface="Montserrat"/>
              </a:rPr>
              <a:t>No garantiza que se cumpla la física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346704"/>
            <a:ext cx="649224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La pérdida física es una penalización blanda: castiga el incumplimiento, no lo prohíbe. Una PINN mal entrenada viola la ecuación tranquilamente.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4764024"/>
            <a:ext cx="365760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F6B6B"/>
                </a:solidFill>
                <a:latin typeface="Montserrat"/>
              </a:rPr>
              <a:t>No es magia con datos escasos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764024"/>
            <a:ext cx="649224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Si la ecuación impuesta está equivocada, la red devuelve con toda confianza parámetros sin sentido. La física en la pérdida es una hipótesis.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¿Cuándo sí y cuándo no?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0876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476"/>
                <a:gridCol w="1632204"/>
                <a:gridCol w="54406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3FB8F5"/>
                          </a:solidFill>
                          <a:latin typeface="Open Sans"/>
                        </a:rPr>
                        <a:t>Situación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FB8F5"/>
                          </a:solidFill>
                          <a:latin typeface="Open Sans"/>
                        </a:rPr>
                        <a:t>¿PINN?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FB8F5"/>
                          </a:solidFill>
                          <a:latin typeface="Open Sans"/>
                        </a:rPr>
                        <a:t>Por qué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Resolver una EDO/EDP con parámetros conocidos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NO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RK4, diferencias finitas o espectral son órdenes de magnitud mejores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Datos escasos y ruidosos + ecuación conocida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La física regulariza e interpola donde no hay observaciones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Estimar parámetros físicos desde observaciones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El caso estrella: los parámetros son variables entrenables más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Reconstruir variables no observadas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La ecuación acopla lo observado con lo oculto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Geometrías complicadas, mallado difícil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Sin malla: solo hacen falta puntos de colocación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Dinámica rígida (stiff) o multiescala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CON CUIDADO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Patologías de gradiente conocidas; suele fallar sin trucos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Se necesita precisión de máquina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F5B642"/>
                          </a:solidFill>
                          <a:latin typeface="Open Sans"/>
                        </a:rPr>
                        <a:t>NO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E6EDF7"/>
                          </a:solidFill>
                          <a:latin typeface="Open Sans"/>
                        </a:rPr>
                        <a:t>Difícil bajar de 10⁻⁵–10⁻⁶ de error relativo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Caso práctico: oscilación de un lazo coronal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El oscilador amortiguado no es un juguete arbitrario: es el modo kink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852160" cy="105156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585216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3FB8F5"/>
                </a:solidFill>
                <a:latin typeface="Montserrat"/>
              </a:rPr>
              <a:t>ü  +  2β u̇  +  ω₀² u  = 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585216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5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450" b="1" i="0">
                <a:solidFill>
                  <a:srgbClr val="F5B642"/>
                </a:solidFill>
                <a:latin typeface="Open Sans"/>
              </a:rPr>
              <a:t>u(t)  </a:t>
            </a:r>
            <a:r>
              <a:rPr sz="1450" b="0" i="0">
                <a:solidFill>
                  <a:srgbClr val="E6EDF7"/>
                </a:solidFill>
                <a:latin typeface="Open Sans"/>
              </a:rPr>
              <a:t>desplazamiento transversal del eje del lazo [Mm]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5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450" b="1" i="0">
                <a:solidFill>
                  <a:srgbClr val="F5B642"/>
                </a:solidFill>
                <a:latin typeface="Open Sans"/>
              </a:rPr>
              <a:t>ω₀  </a:t>
            </a:r>
            <a:r>
              <a:rPr sz="1450" b="0" i="0">
                <a:solidFill>
                  <a:srgbClr val="E6EDF7"/>
                </a:solidFill>
                <a:latin typeface="Open Sans"/>
              </a:rPr>
              <a:t>tensión magnética como fuerza restauradora → el período P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5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450" b="1" i="0">
                <a:solidFill>
                  <a:srgbClr val="F5B642"/>
                </a:solidFill>
                <a:latin typeface="Open Sans"/>
              </a:rPr>
              <a:t>β  </a:t>
            </a:r>
            <a:r>
              <a:rPr sz="1450" b="0" i="0">
                <a:solidFill>
                  <a:srgbClr val="E6EDF7"/>
                </a:solidFill>
                <a:latin typeface="Open Sans"/>
              </a:rPr>
              <a:t>amortiguamiento, dominado por absorción resonante → el tiempo 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148840"/>
            <a:ext cx="4754880" cy="3749039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5B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237744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5B642"/>
                </a:solidFill>
                <a:latin typeface="Montserrat"/>
              </a:rPr>
              <a:t>POR QUÉ IMPORTA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834640"/>
            <a:ext cx="4206240" cy="2834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Una fulguración cercana sacude el lazo y este oscila en su modo kink.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Se observa u(t) con TRACE o SDO/AIA, se miden P y τ, y de ahí se infiere el campo magnético coronal y la estructura fina transversal del lazo.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6EDF7"/>
                </a:solidFill>
                <a:latin typeface="Open Sans"/>
              </a:rPr>
              <a:t>Ninguna de esas dos cosas se mide directamente. Eso es la sismología coronal.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La ley que un modelo debe respetar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No juzgamos por cómo se ve la curva; juzgamos por los observables físicos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212080" cy="109728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52120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 i="0">
                <a:solidFill>
                  <a:srgbClr val="E6EDF7"/>
                </a:solidFill>
                <a:latin typeface="Montserrat"/>
              </a:rPr>
              <a:t>E  =  ½ v²  +  ½ ω₀² u²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65960"/>
            <a:ext cx="5212080" cy="109728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5B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2212848"/>
            <a:ext cx="52120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0" i="0">
                <a:solidFill>
                  <a:srgbClr val="F5B642"/>
                </a:solidFill>
                <a:latin typeface="Montserrat"/>
              </a:rPr>
              <a:t>Ė  =  −2β v²  ≤ 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11535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Sustituyendo la ecuación de movimiento en dE/dt, los términos de fuerza restauradora se cancelan y queda solo la disipación. La ley dice dos cosas, y hay que verificar las dos: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5394960" cy="12344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Signo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La energía nunca puede aumentar. Ė &gt; 0 en cualquier instante es físicamente imposible sin una fuente.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77639"/>
            <a:ext cx="5394960" cy="12344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Magnitud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26280"/>
            <a:ext cx="484632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No basta con que baje: debe bajar exactamente a la tasa 2βv², que es la potencia disipada.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5B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B642"/>
                </a:solidFill>
                <a:latin typeface="Open Sans"/>
              </a:rPr>
              <a:t>Energía espuria: </a:t>
            </a:r>
            <a:r>
              <a:rPr sz="1400" b="0" i="0">
                <a:solidFill>
                  <a:srgbClr val="E6EDF7"/>
                </a:solidFill>
                <a:latin typeface="Open Sans"/>
              </a:rPr>
              <a:t>la fracción de E(0) que un modelo crea de la nada, ∫ max(Ė + 2βv², 0) dt / E(0). Para la solución verdadera vale cero. Es nuestro detector de violaciones.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El escenario observacional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14 puntos, σ = 0.04 Mm, y un hueco de cobertura de 8 minutos</a:t>
            </a:r>
          </a:p>
        </p:txBody>
      </p:sp>
      <p:pic>
        <p:nvPicPr>
          <p:cNvPr id="4" name="Picture 3" descr="01_escenario_observ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796" y="1691640"/>
            <a:ext cx="7614102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B3CC"/>
                </a:solidFill>
                <a:latin typeface="Open Sans"/>
              </a:rPr>
              <a:t>La pregunta interesante no es qué hace cada modelo donde hay datos, sino qué inventa donde no los hay.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Paso 1: la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Un MLP que actúa como ansatz continuo y diferenciable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6675120" cy="2703194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929384"/>
            <a:ext cx="6272784" cy="24105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3FB8F5"/>
                </a:solidFill>
                <a:latin typeface="DejaVu Sans Mono"/>
              </a:rPr>
              <a:t>class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MLP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Module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def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__init__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3FB8F5"/>
                </a:solidFill>
                <a:latin typeface="DejaVu Sans Mono"/>
              </a:rPr>
              <a:t>self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hidden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32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layers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3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super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__init__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bloques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[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Linear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1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hidden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Tanh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for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_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in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range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layers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-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1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bloques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+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[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Linear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hidden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hidden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Tanh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bloques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+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[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Linear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hidden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1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self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net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nn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Sequential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bloques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def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forward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3FB8F5"/>
                </a:solidFill>
                <a:latin typeface="DejaVu Sans Mono"/>
              </a:rPr>
              <a:t>self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normaliza t -&gt; [-1,1] DENTRO del modelo: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autograd deriva respecto al t fisico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return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self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net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2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0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t</a:t>
            </a:r>
            <a:r>
              <a:rPr sz="1150">
                <a:solidFill>
                  <a:srgbClr val="E6EDF7"/>
                </a:solidFill>
                <a:latin typeface="DejaVu Sans Mono"/>
              </a:rPr>
              <a:t>/</a:t>
            </a:r>
            <a:r>
              <a:rPr sz="1150">
                <a:solidFill>
                  <a:srgbClr val="E6EDF7"/>
                </a:solidFill>
                <a:latin typeface="DejaVu Sans Mono"/>
              </a:rPr>
              <a:t>T_END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-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1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0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840480" cy="288036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5B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5B642"/>
                </a:solidFill>
                <a:latin typeface="Montserrat"/>
              </a:rPr>
              <a:t>POR QUÉ tanh Y NO 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3291840" cy="21031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Necesitamos que ü exista y sea continua.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ReLU tiene segunda derivada nula en casi todo punto: el residuo de una EDO de segundo orden sería idénticamente cero salvo en un conjunto de medida nula.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E6EDF7"/>
                </a:solidFill>
                <a:latin typeface="Open Sans"/>
              </a:rPr>
              <a:t>La pérdida física no informaría nada.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Paso 2: el residuo con autograd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Derivadas exactas hasta precisión de máquina, sin diferencias finitas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2887218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929384"/>
            <a:ext cx="10479024" cy="2594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3FB8F5"/>
                </a:solidFill>
                <a:latin typeface="DejaVu Sans Mono"/>
              </a:rPr>
              <a:t>def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deriv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y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x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create_graph=True: hace falta para poder derivar OTRA vez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return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torch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autograd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grad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y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x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torch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ones_like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y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create_graph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3FB8F5"/>
                </a:solidFill>
                <a:latin typeface="DejaVu Sans Mono"/>
              </a:rPr>
              <a:t>True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[</a:t>
            </a:r>
            <a:r>
              <a:rPr sz="1150">
                <a:solidFill>
                  <a:srgbClr val="E6EDF7"/>
                </a:solidFill>
                <a:latin typeface="DejaVu Sans Mono"/>
              </a:rPr>
              <a:t>0</a:t>
            </a:r>
            <a:r>
              <a:rPr sz="1150">
                <a:solidFill>
                  <a:srgbClr val="E6EDF7"/>
                </a:solidFill>
                <a:latin typeface="DejaVu Sans Mono"/>
              </a:rPr>
              <a:t>]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3FB8F5"/>
                </a:solidFill>
                <a:latin typeface="DejaVu Sans Mono"/>
              </a:rPr>
              <a:t>def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perdidas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lam_fis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lam_ci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20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0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l_dat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torch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mean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t_data_t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-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u_data_t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2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u_c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t_col_t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puntos de colocacion: SIN datos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du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deriv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u_c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t_col_t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velocidad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d2u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deriv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du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t_col_t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aceleracion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r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d2u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+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2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beta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du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+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omega0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2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u_c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/</a:t>
            </a:r>
            <a:r>
              <a:rPr sz="1150">
                <a:solidFill>
                  <a:srgbClr val="E6EDF7"/>
                </a:solidFill>
                <a:latin typeface="DejaVu Sans Mono"/>
              </a:rPr>
              <a:t>omega0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2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7FBF8F"/>
                </a:solidFill>
                <a:latin typeface="DejaVu Sans Mono"/>
              </a:rPr>
              <a:t># residuo adimensional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torch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mean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r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2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return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l_dat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+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lam_fis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+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lam_ci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l_ci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l_dat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l_ci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Paso 3: el 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Adam explora, L-BFGS remata — el detalle que casi ningún tutorial menciona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6675120" cy="3439286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929384"/>
            <a:ext cx="6272784" cy="31466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  <a:r>
              <a:rPr sz="1150">
                <a:solidFill>
                  <a:srgbClr val="7FBF8F"/>
                </a:solidFill>
                <a:latin typeface="DejaVu Sans Mono"/>
              </a:rPr>
              <a:t># fase 1: Adam con cosine annealing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opt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torch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optim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Adam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parameters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lr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5e</a:t>
            </a:r>
            <a:r>
              <a:rPr sz="1150">
                <a:solidFill>
                  <a:srgbClr val="E6EDF7"/>
                </a:solidFill>
                <a:latin typeface="DejaVu Sans Mono"/>
              </a:rPr>
              <a:t>-</a:t>
            </a:r>
            <a:r>
              <a:rPr sz="1150">
                <a:solidFill>
                  <a:srgbClr val="E6EDF7"/>
                </a:solidFill>
                <a:latin typeface="DejaVu Sans Mono"/>
              </a:rPr>
              <a:t>3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sch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CosineAnnealingLR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opt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epochs_adam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eta_min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1e</a:t>
            </a:r>
            <a:r>
              <a:rPr sz="1150">
                <a:solidFill>
                  <a:srgbClr val="E6EDF7"/>
                </a:solidFill>
                <a:latin typeface="DejaVu Sans Mono"/>
              </a:rPr>
              <a:t>-</a:t>
            </a:r>
            <a:r>
              <a:rPr sz="1150">
                <a:solidFill>
                  <a:srgbClr val="E6EDF7"/>
                </a:solidFill>
                <a:latin typeface="DejaVu Sans Mono"/>
              </a:rPr>
              <a:t>4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3FB8F5"/>
                </a:solidFill>
                <a:latin typeface="DejaVu Sans Mono"/>
              </a:rPr>
              <a:t>for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ep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in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range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epochs_adam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opt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zero_grad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loss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_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perdidas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lam_fis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loss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backward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;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opt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step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;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sch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step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/>
            </a:r>
            <a:r>
              <a:rPr sz="1150">
                <a:solidFill>
                  <a:srgbClr val="7FBF8F"/>
                </a:solidFill>
                <a:latin typeface="DejaVu Sans Mono"/>
              </a:rPr>
              <a:t># fase 2: L-BFGS (cuasi-Newton, usa curvatura)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lbfgs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torch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optim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LBFGS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parameters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line_search_fn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'</a:t>
            </a:r>
            <a:r>
              <a:rPr sz="1150">
                <a:solidFill>
                  <a:srgbClr val="E6EDF7"/>
                </a:solidFill>
                <a:latin typeface="DejaVu Sans Mono"/>
              </a:rPr>
              <a:t>strong_wolfe</a:t>
            </a:r>
            <a:r>
              <a:rPr sz="1150">
                <a:solidFill>
                  <a:srgbClr val="E6EDF7"/>
                </a:solidFill>
                <a:latin typeface="DejaVu Sans Mono"/>
              </a:rPr>
              <a:t>'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3FB8F5"/>
                </a:solidFill>
                <a:latin typeface="DejaVu Sans Mono"/>
              </a:rPr>
              <a:t>def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closure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  <a:r>
              <a:rPr sz="1150">
                <a:solidFill>
                  <a:srgbClr val="E6EDF7"/>
                </a:solidFill>
                <a:latin typeface="DejaVu Sans Mono"/>
              </a:rPr>
              <a:t>: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lbfgs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zero_grad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loss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*</a:t>
            </a:r>
            <a:r>
              <a:rPr sz="1150">
                <a:solidFill>
                  <a:srgbClr val="E6EDF7"/>
                </a:solidFill>
                <a:latin typeface="DejaVu Sans Mono"/>
              </a:rPr>
              <a:t>_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=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perdidas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model</a:t>
            </a:r>
            <a:r>
              <a:rPr sz="1150">
                <a:solidFill>
                  <a:srgbClr val="E6EDF7"/>
                </a:solidFill>
                <a:latin typeface="DejaVu Sans Mono"/>
              </a:rPr>
              <a:t>,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lam_fis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loss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backward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3FB8F5"/>
                </a:solidFill>
                <a:latin typeface="DejaVu Sans Mono"/>
              </a:rPr>
              <a:t>return</a:t>
            </a:r>
            <a:r>
              <a:rPr sz="1150">
                <a:solidFill>
                  <a:srgbClr val="E6EDF7"/>
                </a:solidFill>
                <a:latin typeface="DejaVu Sans Mono"/>
              </a:rPr>
              <a:t> </a:t>
            </a:r>
            <a:r>
              <a:rPr sz="1150">
                <a:solidFill>
                  <a:srgbClr val="E6EDF7"/>
                </a:solidFill>
                <a:latin typeface="DejaVu Sans Mono"/>
              </a:rPr>
              <a:t>loss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E6EDF7"/>
                </a:solidFill>
                <a:latin typeface="DejaVu Sans Mono"/>
              </a:rPr>
              <a:t>lbfgs</a:t>
            </a:r>
            <a:r>
              <a:rPr sz="1150">
                <a:solidFill>
                  <a:srgbClr val="E6EDF7"/>
                </a:solidFill>
                <a:latin typeface="DejaVu Sans Mono"/>
              </a:rPr>
              <a:t>.</a:t>
            </a:r>
            <a:r>
              <a:rPr sz="1150">
                <a:solidFill>
                  <a:srgbClr val="E6EDF7"/>
                </a:solidFill>
                <a:latin typeface="DejaVu Sans Mono"/>
              </a:rPr>
              <a:t>step</a:t>
            </a:r>
            <a:r>
              <a:rPr sz="1150">
                <a:solidFill>
                  <a:srgbClr val="E6EDF7"/>
                </a:solidFill>
                <a:latin typeface="DejaVu Sans Mono"/>
              </a:rPr>
              <a:t>(</a:t>
            </a:r>
            <a:r>
              <a:rPr sz="1150">
                <a:solidFill>
                  <a:srgbClr val="E6EDF7"/>
                </a:solidFill>
                <a:latin typeface="DejaVu Sans Mono"/>
              </a:rPr>
              <a:t>closure</a:t>
            </a:r>
            <a:r>
              <a:rPr sz="1150">
                <a:solidFill>
                  <a:srgbClr val="E6EDF7"/>
                </a:solidFill>
                <a:latin typeface="DejaVu Sans Mono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83080"/>
            <a:ext cx="3840480" cy="361188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3FB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B8F5"/>
                </a:solidFill>
                <a:latin typeface="Montserrat"/>
              </a:rPr>
              <a:t>EL EXPERIMENTO CONTROLADO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329184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Entrenamos DOS modelos con la misma red, el mismo optimizador y los mismos datos.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9FB3CC"/>
                </a:solidFill>
                <a:latin typeface="Open Sans"/>
              </a:rPr>
              <a:t>Lo único que cambia: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FF6B6B"/>
                </a:solidFill>
                <a:latin typeface="Open Sans"/>
              </a:rPr>
              <a:t>λfís = 0</a:t>
            </a:r>
            <a:r>
              <a:rPr sz="1350" b="0" i="0">
                <a:solidFill>
                  <a:srgbClr val="E6EDF7"/>
                </a:solidFill>
                <a:latin typeface="Open Sans"/>
              </a:rPr>
              <a:t>  → caja negra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 i="0">
                <a:solidFill>
                  <a:srgbClr val="3FB8F5"/>
                </a:solidFill>
                <a:latin typeface="Open Sans"/>
              </a:rPr>
              <a:t>λfís = 30</a:t>
            </a:r>
            <a:r>
              <a:rPr sz="1350" b="0" i="0">
                <a:solidFill>
                  <a:srgbClr val="E6EDF7"/>
                </a:solidFill>
                <a:latin typeface="Open Sans"/>
              </a:rPr>
              <a:t>  → PINN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1">
                <a:solidFill>
                  <a:srgbClr val="9FB3CC"/>
                </a:solidFill>
                <a:latin typeface="Open Sans"/>
              </a:rPr>
              <a:t>Cualquier diferencia es atribuible a la pérdida, no al optimizador.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¿Ajusta? Cinemática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Mismo dato, misma red, mismo optimizador — solo cambia la pérdida</a:t>
            </a:r>
          </a:p>
        </p:txBody>
      </p:sp>
      <p:pic>
        <p:nvPicPr>
          <p:cNvPr id="4" name="Picture 3" descr="02a_cinema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28800"/>
            <a:ext cx="10972800" cy="3254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B3CC"/>
                </a:solidFill>
                <a:latin typeface="Open Sans"/>
              </a:rPr>
              <a:t>A simple vista, en (a) las dos curvas pasan por los puntos. El problema aparece en las derivadas.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¿Respeta la física? Energía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El diagnóstico que separa un ajuste de una reconstrucción física</a:t>
            </a:r>
          </a:p>
        </p:txBody>
      </p:sp>
      <p:pic>
        <p:nvPicPr>
          <p:cNvPr id="4" name="Picture 3" descr="02b_ene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28800"/>
            <a:ext cx="10972800" cy="3250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B3CC"/>
                </a:solidFill>
                <a:latin typeface="Open Sans"/>
              </a:rPr>
              <a:t>(e) es el veredicto: por encima de cero, el modelo está creando energía que ninguna fuente aporta.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Dos formas distintas de fallar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5394960" cy="210312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F6B6B"/>
                </a:solidFill>
                <a:latin typeface="Montserrat"/>
              </a:rPr>
              <a:t>DONDE SÍ HAY DATOS: SOBREAJUSTA EL RUIDO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Para pasar exactamente por cada punto ruidoso, la curva debe curvarse mucho entre punto y punto. Curvatura es aceleración, y esas aceleraciones espurias son energía inyectada. Ajustar el ruido tiene una consecuencia física medible.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91640"/>
            <a:ext cx="5212080" cy="210312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0" y="1874519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FF6B6B"/>
                </a:solidFill>
                <a:latin typeface="Montserrat"/>
              </a:rPr>
              <a:t>DONDE NO HAY DATOS: SE APLANA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Open Sans"/>
              </a:rPr>
              <a:t>En el hueco la caja negra pierde la oscilación por completo: dibuja una joroba suave donde la verdad completa 1.6 ciclos. Sin datos y sin física, una red hace lo único que sabe hacer: interpolar suavemente.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977639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0"/>
                <a:gridCol w="2234565"/>
                <a:gridCol w="2234565"/>
                <a:gridCol w="155448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FB8F5"/>
                          </a:solidFill>
                          <a:latin typeface="Open Sans"/>
                        </a:rPr>
                        <a:t>Diagnóstico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8F5"/>
                          </a:solidFill>
                          <a:latin typeface="Open Sans"/>
                        </a:rPr>
                        <a:t>Caja negra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8F5"/>
                          </a:solidFill>
                          <a:latin typeface="Open Sans"/>
                        </a:rPr>
                        <a:t>PINN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FB8F5"/>
                          </a:solidFill>
                          <a:latin typeface="Open Sans"/>
                        </a:rPr>
                        <a:t>Mejora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DF7"/>
                          </a:solidFill>
                          <a:latin typeface="Open Sans"/>
                        </a:rPr>
                        <a:t>RMSE de u  [Mm]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6B6B"/>
                          </a:solidFill>
                          <a:latin typeface="Open Sans"/>
                        </a:rPr>
                        <a:t>0.1504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FB8F5"/>
                          </a:solidFill>
                          <a:latin typeface="Open Sans"/>
                        </a:rPr>
                        <a:t>0.0049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B642"/>
                          </a:solidFill>
                          <a:latin typeface="Open Sans"/>
                        </a:rPr>
                        <a:t>31×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DF7"/>
                          </a:solidFill>
                          <a:latin typeface="Open Sans"/>
                        </a:rPr>
                        <a:t>RMSE dentro del hueco  [Mm]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6B6B"/>
                          </a:solidFill>
                          <a:latin typeface="Open Sans"/>
                        </a:rPr>
                        <a:t>0.2603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FB8F5"/>
                          </a:solidFill>
                          <a:latin typeface="Open Sans"/>
                        </a:rPr>
                        <a:t>0.0029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B642"/>
                          </a:solidFill>
                          <a:latin typeface="Open Sans"/>
                        </a:rPr>
                        <a:t>90×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DF7"/>
                          </a:solidFill>
                          <a:latin typeface="Open Sans"/>
                        </a:rPr>
                        <a:t>RMSE de v (nunca observada)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6B6B"/>
                          </a:solidFill>
                          <a:latin typeface="Open Sans"/>
                        </a:rPr>
                        <a:t>0.1154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FB8F5"/>
                          </a:solidFill>
                          <a:latin typeface="Open Sans"/>
                        </a:rPr>
                        <a:t>0.0062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B642"/>
                          </a:solidFill>
                          <a:latin typeface="Open Sans"/>
                        </a:rPr>
                        <a:t>19×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DF7"/>
                          </a:solidFill>
                          <a:latin typeface="Open Sans"/>
                        </a:rPr>
                        <a:t>RMS del residuo de la EDO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6B6B"/>
                          </a:solidFill>
                          <a:latin typeface="Open Sans"/>
                        </a:rPr>
                        <a:t>0.2103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FB8F5"/>
                          </a:solidFill>
                          <a:latin typeface="Open Sans"/>
                        </a:rPr>
                        <a:t>0.0051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B642"/>
                          </a:solidFill>
                          <a:latin typeface="Open Sans"/>
                        </a:rPr>
                        <a:t>41×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E6EDF7"/>
                          </a:solidFill>
                          <a:latin typeface="Open Sans"/>
                        </a:rPr>
                        <a:t>Energía espuria / E(0)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6B6B"/>
                          </a:solidFill>
                          <a:latin typeface="Open Sans"/>
                        </a:rPr>
                        <a:t>43.5 %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FB8F5"/>
                          </a:solidFill>
                          <a:latin typeface="Open Sans"/>
                        </a:rPr>
                        <a:t>1.3 %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B642"/>
                          </a:solidFill>
                          <a:latin typeface="Open Sans"/>
                        </a:rPr>
                        <a:t>33×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Cómo la física dobla la curva durante el entrenamiento</a:t>
            </a:r>
          </a:p>
        </p:txBody>
      </p:sp>
      <p:pic>
        <p:nvPicPr>
          <p:cNvPr id="3" name="Picture 2" descr="04_entrenamiento_deck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789920" cy="330236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5120640"/>
            <a:ext cx="10789920" cy="105156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5285232"/>
            <a:ext cx="10241280" cy="777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6EDF7"/>
                </a:solidFill>
                <a:latin typeface="Open Sans"/>
              </a:rPr>
              <a:t>Ambas redes arrancan idénticas.</a:t>
            </a:r>
            <a:r>
              <a:rPr sz="1400" b="0" i="0">
                <a:solidFill>
                  <a:srgbClr val="E6EDF7"/>
                </a:solidFill>
                <a:latin typeface="Open Sans"/>
              </a:rPr>
              <a:t>  Encuentran primero los datos y luego reconstruyen la oscilación de izquierda a derecha. En el hueco se separan: la </a:t>
            </a:r>
            <a:r>
              <a:rPr sz="1400" b="1" i="0">
                <a:solidFill>
                  <a:srgbClr val="FF6B6B"/>
                </a:solidFill>
                <a:latin typeface="Open Sans"/>
              </a:rPr>
              <a:t>caja negra</a:t>
            </a:r>
            <a:r>
              <a:rPr sz="1400" b="0" i="0">
                <a:solidFill>
                  <a:srgbClr val="E6EDF7"/>
                </a:solidFill>
                <a:latin typeface="Open Sans"/>
              </a:rPr>
              <a:t> se queda plana porque nada la obliga a oscilar, mientras los puntos de colocación empujan a la </a:t>
            </a:r>
            <a:r>
              <a:rPr sz="1400" b="1" i="0">
                <a:solidFill>
                  <a:srgbClr val="3FB8F5"/>
                </a:solidFill>
                <a:latin typeface="Open Sans"/>
              </a:rPr>
              <a:t>PINN</a:t>
            </a:r>
            <a:r>
              <a:rPr sz="1400" b="0" i="0">
                <a:solidFill>
                  <a:srgbClr val="E6EDF7"/>
                </a:solidFill>
                <a:latin typeface="Open Sans"/>
              </a:rPr>
              <a:t> a continuar la oscilación a través del vacío.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B3CC"/>
                </a:solidFill>
                <a:latin typeface="Open Sans"/>
              </a:rPr>
              <a:t>81 instantáneas tomadas durante el entrenamiento de ambos modelos · figuras/04_entrenamiento.gif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Donde la PINN gana: el problema inverso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Los parámetros físicos como variables entrenables, junto con los pesos</a:t>
            </a:r>
          </a:p>
        </p:txBody>
      </p:sp>
      <p:pic>
        <p:nvPicPr>
          <p:cNvPr id="4" name="Picture 3" descr="05_problema_inver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02" y="1600200"/>
            <a:ext cx="864509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4892040"/>
            <a:ext cx="5394960" cy="13716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3FB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ω₀ recuperada con </a:t>
            </a:r>
            <a:r>
              <a:rPr sz="1500" b="1" i="0">
                <a:solidFill>
                  <a:srgbClr val="3FB8F5"/>
                </a:solidFill>
                <a:latin typeface="Open Sans"/>
              </a:rPr>
              <a:t>0.8 % de error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9FB3CC"/>
                </a:solidFill>
                <a:latin typeface="Open Sans"/>
              </a:rPr>
              <a:t>El período se lee de los cruces por cero: muchos ciclos lo restringen fuertemente.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892040"/>
            <a:ext cx="5212080" cy="13716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F5B6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5074920"/>
            <a:ext cx="4663440" cy="1005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E6EDF7"/>
                </a:solidFill>
                <a:latin typeface="Open Sans"/>
              </a:rPr>
              <a:t>β recuperada con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5.3 % de error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9FB3CC"/>
                </a:solidFill>
                <a:latin typeface="Open Sans"/>
              </a:rPr>
              <a:t>El amortiguamiento se lee de la envolvente, mucho peor determinada con ruido y huecos. La misma jerarquía aparece en la sismología coronal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De P y τ a la física del lazo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Sismología coronal: medir lo que ningún instrumento resuelve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18288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B8F5"/>
                </a:solidFill>
                <a:latin typeface="Montserrat"/>
              </a:rPr>
              <a:t>CAMPO MAGNÉTICO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DejaVu Sans Mono"/>
              </a:rPr>
              <a:t>c_k = 2L/P    →    B = c_k √(μ₀(ρi+ρe)/2)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9FB3CC"/>
                </a:solidFill>
                <a:latin typeface="Open Sans"/>
              </a:rPr>
              <a:t>Velocidad kink del modo transversal en un tubo delgado.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12080" cy="1828800"/>
          </a:xfrm>
          <a:prstGeom prst="roundRect">
            <a:avLst>
              <a:gd name="adj" fmla="val 2000"/>
            </a:avLst>
          </a:prstGeom>
          <a:solidFill>
            <a:srgbClr val="0A1626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FB8F5"/>
                </a:solidFill>
                <a:latin typeface="Montserrat"/>
              </a:rPr>
              <a:t>ESTRUCTURA FINA TRANSVERSAL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66344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E6EDF7"/>
                </a:solidFill>
                <a:latin typeface="DejaVu Sans Mono"/>
              </a:rPr>
              <a:t>τ/P = (2/π)(a/l)(ζ+1)/(ζ−1)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9FB3CC"/>
                </a:solidFill>
                <a:latin typeface="Open Sans"/>
              </a:rPr>
              <a:t>Absorción resonante en la capa inhomogénea del borde.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840480"/>
          <a:ext cx="1088135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9823"/>
                <a:gridCol w="2481713"/>
                <a:gridCol w="2768065"/>
                <a:gridCol w="1431757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FB8F5"/>
                          </a:solidFill>
                          <a:latin typeface="Open Sans"/>
                        </a:rPr>
                        <a:t>Diagnóstico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FB8F5"/>
                          </a:solidFill>
                          <a:latin typeface="Open Sans"/>
                        </a:rPr>
                        <a:t>Valor verdadero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FB8F5"/>
                          </a:solidFill>
                          <a:latin typeface="Open Sans"/>
                        </a:rPr>
                        <a:t>Estimado por la PINN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FB8F5"/>
                          </a:solidFill>
                          <a:latin typeface="Open Sans"/>
                        </a:rPr>
                        <a:t>Error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6EDF7"/>
                          </a:solidFill>
                          <a:latin typeface="Open Sans"/>
                        </a:rPr>
                        <a:t>Campo magnético B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6EDF7"/>
                          </a:solidFill>
                          <a:latin typeface="Open Sans"/>
                        </a:rPr>
                        <a:t>7.86 G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6EDF7"/>
                          </a:solidFill>
                          <a:latin typeface="Open Sans"/>
                        </a:rPr>
                        <a:t>7.79 G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B642"/>
                          </a:solidFill>
                          <a:latin typeface="Open Sans"/>
                        </a:rPr>
                        <a:t>0.8 %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E6EDF7"/>
                          </a:solidFill>
                          <a:latin typeface="Open Sans"/>
                        </a:rPr>
                        <a:t>Ancho relativo de la capa  l/a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6EDF7"/>
                          </a:solidFill>
                          <a:latin typeface="Open Sans"/>
                        </a:rPr>
                        <a:t>0.77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E6EDF7"/>
                          </a:solidFill>
                          <a:latin typeface="Open Sans"/>
                        </a:rPr>
                        <a:t>0.82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5B642"/>
                          </a:solidFill>
                          <a:latin typeface="Open Sans"/>
                        </a:rPr>
                        <a:t>6.2 %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806440"/>
            <a:ext cx="10911535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E6EDF7"/>
                </a:solidFill>
                <a:latin typeface="Open Sans"/>
              </a:rPr>
              <a:t>Partiendo de 14 medidas ruidosas de una posición, con un hueco de 8 minutos, y sin conocer ningún parámetro del sistema.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Honestidad computacional: PINN vs RK4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Las dos primeras filas son demoledoras para la PINN, y está bien que lo sean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3FB8F5"/>
                          </a:solidFill>
                          <a:latin typeface="Open Sans"/>
                        </a:rPr>
                        <a:t/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FB8F5"/>
                          </a:solidFill>
                          <a:latin typeface="Open Sans"/>
                        </a:rPr>
                        <a:t>RK4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FB8F5"/>
                          </a:solidFill>
                          <a:latin typeface="Open Sans"/>
                        </a:rPr>
                        <a:t>PINN</a:t>
                      </a:r>
                    </a:p>
                  </a:txBody>
                  <a:tcPr anchor="ctr" marL="109728" marR="109728" marT="27432" marB="27432">
                    <a:solidFill>
                      <a:srgbClr val="13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Tiempo de cómputo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20 ms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33 s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Error máximo en u  [Mm]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7.7e-08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4.9e-03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¿Necesita conocer β y ω₀?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no: los estima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¿Usa las observaciones?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no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¿Tolera huecos y ruido?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no aplica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¿Estima parámetros desconocidos?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no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D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E6EDF7"/>
                          </a:solidFill>
                          <a:latin typeface="Open Sans"/>
                        </a:rPr>
                        <a:t>¿Reconstruye variables ocultas?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9FB3CC"/>
                          </a:solidFill>
                          <a:latin typeface="Open Sans"/>
                        </a:rPr>
                        <a:t>no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FB8F5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anchor="ctr" marL="109728" marR="109728" marT="27432" marB="27432">
                    <a:solidFill>
                      <a:srgbClr val="0A162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97880"/>
            <a:ext cx="10911535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5B642"/>
                </a:solidFill>
                <a:latin typeface="Open Sans"/>
              </a:rPr>
              <a:t>Usa una PINN cuando el problema esté mal planteado en el sentido clásico. Si está bien planteado y solo hay que integrarlo, integra.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Desafíos y fronteras abiertas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4241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9FB3CC"/>
                </a:solidFill>
                <a:latin typeface="Open Sans"/>
              </a:rPr>
              <a:t>No todo está resuelto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0233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Patología de gradientes.  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Los términos de la pérdida pueden tener magnitudes de gradiente muy distintas y la convergencia se rompe. Adimensionalizar ayuda; hay esquemas de pesos adaptativos (Wang et al. 2021).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Costo de la retropropagación.  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Calcular derivadas de alto orden sobre mallas multidimensionales es intensivo en memoria de GPU. Cada orden de derivada agranda el grafo.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Dinámica multiescala y rígida.  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Los fenómenos astrofísicos varían enormemente en escala espacial y temporal. Las PINNs tienen modos de fallo caracterizados y reproducibles (Krishnapriyan et al. 2021): a veces la solución trivial gana.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 i="0">
                <a:solidFill>
                  <a:srgbClr val="F5B642"/>
                </a:solidFill>
                <a:latin typeface="Open Sans"/>
              </a:rPr>
              <a:t>› </a:t>
            </a:r>
            <a:r>
              <a:rPr sz="1500" b="1" i="0">
                <a:solidFill>
                  <a:srgbClr val="F5B642"/>
                </a:solidFill>
                <a:latin typeface="Open Sans"/>
              </a:rPr>
              <a:t>Y el riesgo silencioso.  </a:t>
            </a:r>
            <a:r>
              <a:rPr sz="1500" b="0" i="0">
                <a:solidFill>
                  <a:srgbClr val="E6EDF7"/>
                </a:solidFill>
                <a:latin typeface="Open Sans"/>
              </a:rPr>
              <a:t>La PINN acierta porque la ecuación impuesta era la correcta. Con física equivocada devuelve un ajuste bonito con parámetros sin sentido.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Qué llevarse de esta clase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10881360" cy="10058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64008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F5B642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420624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La física entra en la pérdida, no en el comentario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01368"/>
            <a:ext cx="5394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El residuo de la EDO evaluado sobre la propia red, con autograd.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62072"/>
            <a:ext cx="10881360" cy="10058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953512"/>
            <a:ext cx="64008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F5B642"/>
                </a:solidFill>
                <a:latin typeface="Montserrat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71800"/>
            <a:ext cx="420624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Audita observables, no curvas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971800"/>
            <a:ext cx="5394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Energía, residuo, retrato de fase. Una curva que pasa por los puntos puede estar creando un 43 % de la energía inicial.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32504"/>
            <a:ext cx="10881360" cy="10058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4123944"/>
            <a:ext cx="64008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F5B642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42232"/>
            <a:ext cx="420624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El nicho es el problema inverso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142232"/>
            <a:ext cx="5394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Para integrar una EDO conocida, integra. Para medir parámetros desde datos incompletos, la PINN es la herramienta.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02936"/>
            <a:ext cx="10881360" cy="1005840"/>
          </a:xfrm>
          <a:prstGeom prst="roundRect">
            <a:avLst>
              <a:gd name="adj" fmla="val 2000"/>
            </a:avLst>
          </a:prstGeom>
          <a:solidFill>
            <a:srgbClr val="132540"/>
          </a:solidFill>
          <a:ln w="12700">
            <a:solidFill>
              <a:srgbClr val="2C47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5294376"/>
            <a:ext cx="64008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F5B642"/>
                </a:solidFill>
                <a:latin typeface="Montserra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12664"/>
            <a:ext cx="420624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3FB8F5"/>
                </a:solidFill>
                <a:latin typeface="Montserrat"/>
              </a:rPr>
              <a:t>Adam explora, L-BFGS remata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312664"/>
            <a:ext cx="5394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Sin la segunda fase, la mayoría de las PINNs de tutorial se quedan a medio converger.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0" i="0">
                <a:solidFill>
                  <a:srgbClr val="3FB8F5"/>
                </a:solidFill>
                <a:latin typeface="Montserrat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B642"/>
                </a:solidFill>
                <a:latin typeface="Montserrat"/>
              </a:rPr>
              <a:t>PINNs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394960" cy="3657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Raissi, Perdikaris &amp; Karniadakis (2019), J. Comput. Phys. 378, 686 — el artículo fundacional.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Karniadakis et al. (2021), Nature Reviews Physics 3, 422 — panorama general.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Wang, Teng &amp; Perdikaris (2021), SIAM J. Sci. Comput. — patologías de gradiente.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Krishnapriyan et al. (2021), NeurIPS — modos de fallo. Lectura obligatoria.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B642"/>
                </a:solidFill>
                <a:latin typeface="Montserrat"/>
              </a:rPr>
              <a:t>Sismología coronal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Nakariakov et al. (1999), Science 285, 862 — oscilaciones transversales con TRACE.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Nakariakov &amp; Ofman (2001), A&amp;A 372, L53 — campo magnético desde el período kink.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Ruderman &amp; Roberts (2002), ApJ 577, 475; Goossens et al. (2002), A&amp;A 394, L39 — absorción resonante.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6EDF7"/>
                </a:solidFill>
                <a:latin typeface="Open Sans"/>
              </a:rPr>
              <a:t>Antolin &amp; Van Doorsselaere (2019), Frontiers in Physics — estructura fina de lazos.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10911535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9FB3CC"/>
                </a:solidFill>
                <a:latin typeface="Open Sans"/>
              </a:rPr>
              <a:t>Cuaderno reproducible: oscilador_armonico_pinn_fisica_solar.ipynb · todas las cifras de esta presentación salen de resultados.json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800" b="0" i="0">
                <a:solidFill>
                  <a:srgbClr val="3FB8F5"/>
                </a:solidFill>
                <a:latin typeface="Montserrat"/>
              </a:rP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9FB3CC"/>
                </a:solidFill>
                <a:latin typeface="Open Sans"/>
              </a:rPr>
              <a:t>Gracias por vuestra atención.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F5B642"/>
                </a:solidFill>
                <a:latin typeface="Montserrat"/>
              </a:rPr>
              <a:t>El cuaderno corre completo en ~3 minutos en CPU.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Neural Networks</dc:title>
  <dc:subject>Astrofísica Computacional 2026-I — clase práctica sobre PINNs</dc:subject>
  <dc:creator/>
  <cp:keywords>PINNs, física solar, sismología coronal, oscilaciones kink</cp:keywords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